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66640" cy="42793920"/>
  <p:notesSz cx="42793920" cy="3026664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66640" cy="5120640"/>
          </a:xfrm>
          <a:prstGeom prst="rect">
            <a:avLst/>
          </a:prstGeom>
          <a:solidFill>
            <a:srgbClr val="4B2E9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57200"/>
            <a:ext cx="28437840" cy="3017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anaemia at 34 weeks of pregnancy linked to higher anxiety and lower well-being in pregnant women in Jaipur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3611880"/>
            <a:ext cx="28437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2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Asha Verma (demo student), MA Psychology, Jaipur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5760720"/>
            <a:ext cx="13761720" cy="6998208"/>
          </a:xfrm>
          <a:prstGeom prst="rect">
            <a:avLst/>
          </a:prstGeom>
          <a:solidFill>
            <a:srgbClr val="F6F3FD"/>
          </a:solidFill>
          <a:ln w="25400">
            <a:solidFill>
              <a:srgbClr val="C9B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5989320"/>
            <a:ext cx="1303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B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280160" y="7315200"/>
            <a:ext cx="13030200" cy="5169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Anaemia is one of the most common health problems of pregnancy, and the burden is highest in South Asia (Kassebaum et al., 2014).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 is also common in pregnancy.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search of OpenAlex and PubMed for 2010 to 2025 found studies of anaemia and of anxiety in pregnancy, but none in Rajasthan that measured haemoglobin and validated anxiety, self-esteem and…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present study asked: Is anaemia at 34 weeks of pregnancy linked to higher anxiety and lower well-being in pregnant women in Jaipur?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H1: Women with anaemia at 34 weeks will have higher GAD-7 scores than women without anaemia.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H2: Higher self-esteem will go with higher life satisfaction, and higher anxiety with lower life satisfaction.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H3: Haemoglobin will rise between 16 and 34 weeks with iron-folic acid tablets.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13307568"/>
            <a:ext cx="13761720" cy="8660892"/>
          </a:xfrm>
          <a:prstGeom prst="rect">
            <a:avLst/>
          </a:prstGeom>
          <a:solidFill>
            <a:srgbClr val="F6F3FD"/>
          </a:solidFill>
          <a:ln w="25400">
            <a:solidFill>
              <a:srgbClr val="C9B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3536168"/>
            <a:ext cx="1303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B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280160" y="14862048"/>
            <a:ext cx="13030200" cy="68320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Design. This was a cross-sectional survey.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Participants. Pregnant women aged 18 or over enrolled at 12 to 16 weeks at two government hospitals in Jaipur (the simulated Janani cohort).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Measures. Anxiety. Generalized Anxiety Disorder 7-item scale (GAD-7, 7 items) (Spitzer et al., 2006).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satisfaction. Satisfaction With Life Scale (SWLS, 5 items) (Diener et al., 1985).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Self-esteem. Rosenberg Self-Esteem Scale (RSES, 10 items) (Rosenberg, 1965).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Anaemia at 34 weeks. Recorded as yes or no.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Haemoglobin at 34 weeks. Taken from the hospital laboratory report or the antenatal card.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Parity. Recorded as: First pregnancy, Second or later.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Age. Taken from the hospital laboratory report or the antenatal card.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Residence. Recorded as: Urban, Rural.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 and ethics. The Janani cohort is simulated: every participant and every value was generated by computer to test Appuscholar, and no real person took part.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Analysis. The main hypothesis was tested with an independent-samples t-test.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5590520" y="5760720"/>
            <a:ext cx="13761720" cy="19713956"/>
          </a:xfrm>
          <a:prstGeom prst="rect">
            <a:avLst/>
          </a:prstGeom>
          <a:solidFill>
            <a:srgbClr val="F6F3FD"/>
          </a:solidFill>
          <a:ln w="25400">
            <a:solidFill>
              <a:srgbClr val="C9B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956280" y="5989320"/>
            <a:ext cx="1303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B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15956280" y="7315200"/>
            <a:ext cx="13030200" cy="101127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for each hypothesis follow.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independent-samples Welch t-test showed that GAD-7 score differed significantly between women with anaemia (M = 7.26, SD = 5.12) and women without anaemia (M = 5.33, SD = 4.24), t(986.89) = 7.03, p &lt; .001, g = 0.42, 95% CI of the difference [1.39, 2.47].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was a moderate positive correlation between self-esteem (RSES) and life satisfaction (SWLS), which was statistically significant, r(1238) = .45, p &lt; .001, 95% CI [.40, .49].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was a moderate negative correlation between GAD-7 score and life satisfaction (SWLS), which was statistically significant, r(1238) = -.35, p &lt; .001, 95% CI [-.39, -.30].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paired-samples t-test showed a significant difference between haemoglobin at 16 weeks and haemoglobin at 34 weeks (M diff = -0.39, SD = 0.64), t(1239) = -21.50, p &lt; .001, 95% CI [-0.43, -0.36], d = -0.61.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multiple linear regression with age, haemoglobin at 34 weeks, parity: First pregnancy (vs Second or later) as predictors of GAD-7 score was significant, F(3, 1236) = 11.24, p &lt; .001, R² = .03, adjusted R² = .02. Individual predictors: age (β = .04, p = .120); haemoglobin at 34 weeks (β = -.16, p &lt; .001); parity: First pregnancy (vs Second or later) (b = 0.23, p = .393).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consistency was α = .89, 95% CI [.88, .90], and McDonald's ω = .89, 95% CI [.88, .90] (k = 7 items, N = 1240).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chi-square test of independence showed no significant association between anaemia at 34 weeks and parity, χ²(1, N = 1240) = 3.29, p = .070, Cramér's V = 0.05.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paired-samples t-test showed a significant difference between the mothers' GAD-7 scores and the fathers' GAD-7 scores (M diff = 1.58, SD = 4.82), t(611) = 8.12, p &lt; .001, 95% CI [1.20, 1.97], d = 0.33.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of GAD-7 score by anaemia at 34 weeks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Note. Boxes show the median and interquartile range. Whiskers reach the most extreme values within 1.5 times the interquartile range. Each point is one participant.</a:t>
            </a:r>
            <a:endParaRPr lang="en-US" sz="22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322040" y="17427956"/>
            <a:ext cx="12298680" cy="74980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5590520" y="26023316"/>
            <a:ext cx="13761720" cy="3631184"/>
          </a:xfrm>
          <a:prstGeom prst="rect">
            <a:avLst/>
          </a:prstGeom>
          <a:solidFill>
            <a:srgbClr val="F6F3FD"/>
          </a:solidFill>
          <a:ln w="25400">
            <a:solidFill>
              <a:srgbClr val="C9B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5956280" y="26251916"/>
            <a:ext cx="1303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B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4800" dirty="0"/>
          </a:p>
        </p:txBody>
      </p:sp>
      <p:sp>
        <p:nvSpPr>
          <p:cNvPr id="17" name="Text 14"/>
          <p:cNvSpPr/>
          <p:nvPr/>
        </p:nvSpPr>
        <p:spPr>
          <a:xfrm>
            <a:off x="15956280" y="27577796"/>
            <a:ext cx="13030200" cy="18023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simulated cohort, women who were anaemic at 34 weeks reported more anxiety than women who were not, with a small-to-moderate difference, so H1 was supported.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Haemoglobin rose between 16 and 34 weeks, supporting H3 and in line with trials of daily iron in pregnancy, but four women in ten were still anaemic at 34 weeks.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15590520" y="30203140"/>
            <a:ext cx="13761720" cy="2480564"/>
          </a:xfrm>
          <a:prstGeom prst="rect">
            <a:avLst/>
          </a:prstGeom>
          <a:solidFill>
            <a:srgbClr val="F6F3FD"/>
          </a:solidFill>
          <a:ln w="25400">
            <a:solidFill>
              <a:srgbClr val="C9B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956280" y="30431740"/>
            <a:ext cx="1303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B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15956280" y="31757620"/>
            <a:ext cx="13030200" cy="6517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Anaemia and anxiety met in the same women in the third trimester.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15590520" y="33232344"/>
            <a:ext cx="13761720" cy="7026880"/>
          </a:xfrm>
          <a:prstGeom prst="rect">
            <a:avLst/>
          </a:prstGeom>
          <a:solidFill>
            <a:srgbClr val="F6F3FD"/>
          </a:solidFill>
          <a:ln w="25400">
            <a:solidFill>
              <a:srgbClr val="C9B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5956280" y="33460944"/>
            <a:ext cx="1303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B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4800" dirty="0"/>
          </a:p>
        </p:txBody>
      </p:sp>
      <p:sp>
        <p:nvSpPr>
          <p:cNvPr id="23" name="Text 20"/>
          <p:cNvSpPr/>
          <p:nvPr/>
        </p:nvSpPr>
        <p:spPr>
          <a:xfrm>
            <a:off x="15956280" y="34786824"/>
            <a:ext cx="13030200" cy="5198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Antony, A. C., Vora, R. M., &amp; Karmarkar, S. J. (2022). The silent tragic reality of Hidden Hunger, anaemia, and neural-tube defects (NTDs) in India. The Lancet Regional Health - Southeast Asia, 6, 100071. https://doi.org/10.1016/j.lansea.2022.100071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Dennis, C. L., Falah-Hassani, K., &amp; Shiri, R. (2017). Prevalence of antenatal and postnatal anxiety: Systematic review and meta-analysis. British Journal of Psychiatry, 210(5), 315–323. https://doi.org/10.1192/bjp.bp.116.187179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Diener, E., Emmons, R. A., Larsen, R. J., &amp; Griffin, S. (1985). The Satisfaction With Life Scale. Journal of Personality Assessment, 49(1), 71–75. https://doi.org/10.1207/s15327752jpa4901_13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Francis, S., Jagadeesh, N. S., Singaravelu, R., &amp; Subramaniam, A. (2022). The influence of pica practice on nutritional status, stress and anxiety of pregnant women. Clinical Epidemiology and Global Health, 17, 101133. https://doi.org/10.1016/j.cegh.2022.101133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Grigoriadis, S., Graves, L., Peer, M., Mamisashvili, L., Tomlinson, G., Vigod, S. N., Dennis, C. L., Steiner, M., Brown, C., Cheung, A., Dawson, H., Rector, N. A., Guenette, M., &amp; Richter, M. (2018). Maternal Anxiety During Pregnancy and the Association With Adverse Perinatal Outcomes: Systematic Review and Meta-Analysis. The Journal of Clinical Psychiatry, 79(5). https://doi.org/10.4088/jcp.17r12011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Kassebaum, N. J., Jasrasaria, R., Naghavi, M., Wulf, S. K., Johns, N., Lozano, R., Regan, M., Weatherall, D., Chou, D. P., Eisele, T. P., Flaxman, S. R., Pullan, R. L., Brooker, S. J., &amp; Murray, C. J. L. (2014). A systematic analysis of global anemia burden from 1990 to 2010. Blood, 123(5), 615–624. https://doi.org/10.1182/blood-2013-06-508325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Peña-Rosas, J. P., De-Regil, L. M., Garcia-Casal, M. N., &amp; Dowswell, T. (2015). Daily oral iron supplementation during pregnancy. Cochrane Database of Systematic Reviews, 2015(7). https://doi.org/10.1002/14651858.cd004736.pub5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Rahman, M. M., Abe, S. K., Rahman, M. S., Kanda, M., Narita, S., Bilano, V., Ota, E., Gilmour, S., &amp; Shibuya, K. (2016). Maternal anemia and risk of adverse birth and health outcomes in low- and middle-income countries: systematic review and meta-analysis. The American Journal of Clinical Nutrition, 103(2), 495–504. https://doi.org/10.3945/ajcn.115.107896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Rosenberg, M. (1965). Society and the adolescent self-image. Princeton University Press.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Spitzer, R. L., Kroenke, K., Williams, J. B. W., &amp; Löwe, B. (2006). A Brief Measure for Assessing Generalized Anxiety Disorder: The GAD-7. Archives of Internal Medicine, 166(10), 1092. https://doi.org/10.1001/archinte.166.10.1092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14400" y="41788080"/>
            <a:ext cx="2843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with Appuscholar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2026-10-26T04:04:13Z</dcterms:created>
  <dcterms:modified xsi:type="dcterms:W3CDTF">2026-10-26T04:04:13Z</dcterms:modified>
</cp:coreProperties>
</file>