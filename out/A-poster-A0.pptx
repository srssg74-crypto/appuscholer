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6000" cy="42804000"/>
  <p:notesSz cx="42804000" cy="302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957" cy="6028134"/>
          </a:xfrm>
          <a:prstGeom prst="rect">
            <a:avLst/>
          </a:prstGeom>
          <a:solidFill>
            <a:srgbClr val="4B2E9E"/>
          </a:solidFill>
          <a:ln w="12700">
            <a:solidFill>
              <a:srgbClr val="4B2E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3932" y="503932"/>
            <a:ext cx="25569892" cy="2658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Anaemia and anxiety in the third trimester: 1,240 women in Jaipur</a:t>
            </a:r>
            <a:endParaRPr lang="en-US" sz="9184" dirty="0"/>
          </a:p>
        </p:txBody>
      </p:sp>
      <p:sp>
        <p:nvSpPr>
          <p:cNvPr id="4" name="Text 2"/>
          <p:cNvSpPr/>
          <p:nvPr/>
        </p:nvSpPr>
        <p:spPr>
          <a:xfrm>
            <a:off x="503932" y="3224361"/>
            <a:ext cx="25569892" cy="1374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25" dirty="0">
                <a:solidFill>
                  <a:srgbClr val="F2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 Verma¹, MA Psychology (final year) (Student) · Dr. Meena Sharma¹, PhD, Professor of Psychology (Supervisor) · Dr. R. K. Gupta², MD (Obstetrics and Gynaecology) (Co-supervisor)</a:t>
            </a:r>
            <a:endParaRPr lang="en-US" sz="4025" dirty="0"/>
          </a:p>
        </p:txBody>
      </p:sp>
      <p:sp>
        <p:nvSpPr>
          <p:cNvPr id="5" name="Text 3"/>
          <p:cNvSpPr/>
          <p:nvPr/>
        </p:nvSpPr>
        <p:spPr>
          <a:xfrm>
            <a:off x="503932" y="4607272"/>
            <a:ext cx="25569892" cy="518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6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Department of Psychology, Demo College, Jaipur   ² Department of Obstetrics, Demo Medical College, Jaipur</a:t>
            </a:r>
            <a:endParaRPr lang="en-US" sz="2863" dirty="0"/>
          </a:p>
        </p:txBody>
      </p:sp>
      <p:sp>
        <p:nvSpPr>
          <p:cNvPr id="6" name="Text 4"/>
          <p:cNvSpPr/>
          <p:nvPr/>
        </p:nvSpPr>
        <p:spPr>
          <a:xfrm>
            <a:off x="503932" y="5133677"/>
            <a:ext cx="25569892" cy="436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9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National Conference of Psychology, Jaipur, 2026</a:t>
            </a:r>
            <a:endParaRPr lang="en-US" sz="2693" dirty="0"/>
          </a:p>
        </p:txBody>
      </p:sp>
      <p:sp>
        <p:nvSpPr>
          <p:cNvPr id="7" name="Shape 5"/>
          <p:cNvSpPr/>
          <p:nvPr/>
        </p:nvSpPr>
        <p:spPr>
          <a:xfrm>
            <a:off x="26316087" y="1286024"/>
            <a:ext cx="3455938" cy="3455938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370951" y="1340888"/>
            <a:ext cx="3346210" cy="33462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3932" y="6532066"/>
            <a:ext cx="9467999" cy="14177218"/>
          </a:xfrm>
          <a:prstGeom prst="roundRect">
            <a:avLst>
              <a:gd name="adj" fmla="val 1159"/>
            </a:avLst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4365" y="6902500"/>
            <a:ext cx="8772852" cy="82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357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5357" dirty="0"/>
          </a:p>
        </p:txBody>
      </p:sp>
      <p:sp>
        <p:nvSpPr>
          <p:cNvPr id="11" name="Text 8"/>
          <p:cNvSpPr/>
          <p:nvPr/>
        </p:nvSpPr>
        <p:spPr>
          <a:xfrm>
            <a:off x="874365" y="7879259"/>
            <a:ext cx="8772852" cy="12404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Anaemia is one of the most common health problems of pregnancy, and the burden is highest in South Asia (Kassebaum et al., 2014).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search of OpenAlex and PubMed for 2010 to 2025 found studies of anaemia and of anxiety in pregnancy, but none in Rajasthan that measured haemoglobin and validated anxiety, self-esteem and…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present study asked: Is anaemia at 34 weeks of pregnancy linked to higher anxiety and lower well-being in pregnant women in Jaipur?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Women with anaemia at 34 weeks will have higher GAD-7 scores than women without anaemia.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Higher self-esteem will go with higher life satisfaction, and higher anxiety with lower life satisfaction.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Haemoglobin will rise between 16 and 34 weeks with iron-folic acid tablets.</a:t>
            </a:r>
            <a:endParaRPr lang="en-US" sz="3291" dirty="0"/>
          </a:p>
        </p:txBody>
      </p:sp>
      <p:sp>
        <p:nvSpPr>
          <p:cNvPr id="12" name="Shape 9"/>
          <p:cNvSpPr/>
          <p:nvPr/>
        </p:nvSpPr>
        <p:spPr>
          <a:xfrm>
            <a:off x="503932" y="21141184"/>
            <a:ext cx="9467999" cy="18476565"/>
          </a:xfrm>
          <a:prstGeom prst="roundRect">
            <a:avLst>
              <a:gd name="adj" fmla="val 1159"/>
            </a:avLst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4365" y="21511617"/>
            <a:ext cx="8772852" cy="82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357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and Methods</a:t>
            </a:r>
            <a:endParaRPr lang="en-US" sz="5357" dirty="0"/>
          </a:p>
        </p:txBody>
      </p:sp>
      <p:sp>
        <p:nvSpPr>
          <p:cNvPr id="14" name="Text 11"/>
          <p:cNvSpPr/>
          <p:nvPr/>
        </p:nvSpPr>
        <p:spPr>
          <a:xfrm>
            <a:off x="874365" y="22488376"/>
            <a:ext cx="8772852" cy="16704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 This was a cross-sectional survey.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Participants. Pregnant women aged 18 or over enrolled at 12 to 16 weeks at two government hospitals in Jaipur (the simulated Janani cohort).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Measures. Anxiety. Generalized Anxiety Disorder 7-item scale (GAD-7, 7 items) (Spitzer et al., 2006).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satisfaction. Satisfaction With Life Scale (SWLS, 5 items) (Diener et al., 1985).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Self-esteem. Rosenberg Self-Esteem Scale (RSES, 10 items) (Rosenberg, 1965).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Haemoglobin at 34 weeks. Measured with the instrument or laboratory method described in section 2.4.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 and laboratory methods. Haemoglobin at 34 weeks. Venous blood (EDTA) was run on an automated five-part haematology analyser (model Sysmex XN-550) and haemoglobin was reported in g/dL.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and ethics. The study was approved by the Institutional Ethics Committee, Department of Psychology, Demo College, Jaipur (reference IEC/PSY/2026/A, 20 October 2026). [how consent was taken, where and when data…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Analysis. The main hypothesis was tested with an independent-samples t-test.</a:t>
            </a:r>
            <a:endParaRPr lang="en-US" sz="3291" dirty="0"/>
          </a:p>
        </p:txBody>
      </p:sp>
      <p:sp>
        <p:nvSpPr>
          <p:cNvPr id="15" name="Shape 12"/>
          <p:cNvSpPr/>
          <p:nvPr/>
        </p:nvSpPr>
        <p:spPr>
          <a:xfrm>
            <a:off x="10403830" y="6532066"/>
            <a:ext cx="9468148" cy="28968799"/>
          </a:xfrm>
          <a:prstGeom prst="roundRect">
            <a:avLst>
              <a:gd name="adj" fmla="val 1159"/>
            </a:avLst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74263" y="6902500"/>
            <a:ext cx="8773001" cy="82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357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5357" dirty="0"/>
          </a:p>
        </p:txBody>
      </p:sp>
      <p:sp>
        <p:nvSpPr>
          <p:cNvPr id="17" name="Text 14"/>
          <p:cNvSpPr/>
          <p:nvPr/>
        </p:nvSpPr>
        <p:spPr>
          <a:xfrm>
            <a:off x="10774263" y="7879259"/>
            <a:ext cx="8773001" cy="21927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independent-samples Welch t-test showed that GAD-7 score differed significantly between women with anaemia (M = 7.26, SD = 5.12) and women without anaemia (M = 5.33, SD = 4.24), t(986.89) = 7.03, p &lt; .001, g = 0.42, 95% CI of the difference [1.39, 2.47].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was a moderate positive correlation between self-esteem (RSES) and life satisfaction (SWLS), which was statistically significant, r(1238) = .45, p &lt; .001, 95% CI [.40, .49].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was a moderate negative correlation between GAD-7 score and life satisfaction (SWLS), which was statistically significant, r(1238) = -.35, p &lt; .001, 95% CI [-.39, -.30].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paired-samples t-test showed a significant difference between haemoglobin at 16 weeks and haemoglobin at 34 weeks (M diff = -0.39, SD = 0.64), t(1239) = -21.50, p &lt; .001, 95% CI [-0.43, -0.36], d = -0.61.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multiple linear regression with age, haemoglobin at 34 weeks, parity: First pregnancy (vs Second or later) as predictors of GAD-7 score was significant, F(3, 1236) = 11.24, p &lt; .001, R² = .03, adjusted R² = .02. Individual predictors: age (β = .04, p = .120); haemoglobin at 34 weeks (β = -.16, p &lt; .001); parity: First pregnancy (vs Second or later) (b = 0.23, p = .393).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consistency was α = .89, 95% CI [.88, .90], and McDonald's ω = .89, 95% CI [.88, .90] (k = 7 items, N = 1240).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paired-samples t-test showed a significant difference between the mothers' GAD-7 scores and the fathers' GAD-7 scores (M diff = 1.58, SD = 4.82), t(611) = 8.12, p &lt; .001, 95% CI [1.20, 1.97], d = 0.33.</a:t>
            </a:r>
            <a:endParaRPr lang="en-US" sz="3291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414" y="29861470"/>
            <a:ext cx="8028980" cy="526896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0303877" y="6532066"/>
            <a:ext cx="9468148" cy="3518446"/>
          </a:xfrm>
          <a:prstGeom prst="roundRect">
            <a:avLst>
              <a:gd name="adj" fmla="val 3119"/>
            </a:avLst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674310" y="6902500"/>
            <a:ext cx="8773001" cy="82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357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5357" dirty="0"/>
          </a:p>
        </p:txBody>
      </p:sp>
      <p:sp>
        <p:nvSpPr>
          <p:cNvPr id="21" name="Text 17"/>
          <p:cNvSpPr/>
          <p:nvPr/>
        </p:nvSpPr>
        <p:spPr>
          <a:xfrm>
            <a:off x="20674310" y="7879259"/>
            <a:ext cx="8773001" cy="1746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Anaemic women carried more anxiety in the third trimester; clinics that test haemoglobin can screen them with the GAD-7.</a:t>
            </a:r>
            <a:endParaRPr lang="en-US" sz="3291" dirty="0"/>
          </a:p>
        </p:txBody>
      </p:sp>
      <p:sp>
        <p:nvSpPr>
          <p:cNvPr id="22" name="Shape 18"/>
          <p:cNvSpPr/>
          <p:nvPr/>
        </p:nvSpPr>
        <p:spPr>
          <a:xfrm>
            <a:off x="20303877" y="10482411"/>
            <a:ext cx="9468148" cy="9326314"/>
          </a:xfrm>
          <a:prstGeom prst="roundRect">
            <a:avLst>
              <a:gd name="adj" fmla="val 1177"/>
            </a:avLst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0674310" y="10852845"/>
            <a:ext cx="8773001" cy="82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357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5357" dirty="0"/>
          </a:p>
        </p:txBody>
      </p:sp>
      <p:sp>
        <p:nvSpPr>
          <p:cNvPr id="24" name="Text 20"/>
          <p:cNvSpPr/>
          <p:nvPr/>
        </p:nvSpPr>
        <p:spPr>
          <a:xfrm>
            <a:off x="20674310" y="11829604"/>
            <a:ext cx="8773001" cy="755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simulated cohort, women who were anaemic at 34 weeks reported more anxiety than women who were not, with a small-to-moderate difference, so H1 was supported.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Haemoglobin rose between 16 and 34 weeks, supporting H3 and in line with trials of daily iron in pregnancy, but four women in ten were still anaemic at 34 weeks.</a:t>
            </a:r>
            <a:endParaRPr lang="en-US" sz="329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9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correlation of r = .45 between self-esteem and life satisfaction means the two measures share about 20% of their variation (r² = .20); the other 80% comes from other things.</a:t>
            </a:r>
            <a:endParaRPr lang="en-US" sz="3291" dirty="0"/>
          </a:p>
        </p:txBody>
      </p:sp>
      <p:sp>
        <p:nvSpPr>
          <p:cNvPr id="25" name="Shape 21"/>
          <p:cNvSpPr/>
          <p:nvPr/>
        </p:nvSpPr>
        <p:spPr>
          <a:xfrm>
            <a:off x="20303877" y="20240625"/>
            <a:ext cx="9468148" cy="14981188"/>
          </a:xfrm>
          <a:prstGeom prst="roundRect">
            <a:avLst>
              <a:gd name="adj" fmla="val 1159"/>
            </a:avLst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0674310" y="20611058"/>
            <a:ext cx="8773001" cy="82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357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5357" dirty="0"/>
          </a:p>
        </p:txBody>
      </p:sp>
      <p:sp>
        <p:nvSpPr>
          <p:cNvPr id="27" name="Text 23"/>
          <p:cNvSpPr/>
          <p:nvPr/>
        </p:nvSpPr>
        <p:spPr>
          <a:xfrm>
            <a:off x="20674310" y="21587817"/>
            <a:ext cx="8773001" cy="13291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Antony, A. C., Vora, R. M., &amp; Karmarkar, S. J. (2022). The silent tragic reality of Hidden Hunger, anaemia, and neural-tube defects (NTDs) in India. The Lancet Regional Health - Southeast Asia, 6, 100071. https://doi.org/10.1016/j.lansea.2022.100071</a:t>
            </a:r>
            <a:endParaRPr lang="en-US" sz="199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Dennis, C. L., Falah-Hassani, K., &amp; Shiri, R. (2017). Prevalence of antenatal and postnatal anxiety: Systematic review and meta-analysis. British Journal of Psychiatry, 210(5), 315–323. https://doi.org/10.1192/bjp.bp.116.187179</a:t>
            </a:r>
            <a:endParaRPr lang="en-US" sz="199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Diener, E., Emmons, R. A., Larsen, R. J., &amp; Griffin, S. (1985). The Satisfaction With Life Scale. Journal of Personality Assessment, 49(1), 71–75. https://doi.org/10.1207/s15327752jpa4901_13</a:t>
            </a:r>
            <a:endParaRPr lang="en-US" sz="199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Francis, S., Jagadeesh, N. S., Singaravelu, R., &amp; Subramaniam, A. (2022). The influence of pica practice on nutritional status, stress and anxiety of pregnant women. Clinical Epidemiology and Global Health, 17, 101133. https://doi.org/10.1016/j.cegh.2022.101133</a:t>
            </a:r>
            <a:endParaRPr lang="en-US" sz="199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Grigoriadis, S., Graves, L., Peer, M., Mamisashvili, L., Tomlinson, G., Vigod, S. N., Dennis, C. L., Steiner, M., Brown, C., Cheung, A., Dawson, H., Rector, N. A., Guenette, M., &amp; Richter, M. (2018). Maternal Anxiety During Pregnancy and the Association With Adverse Perinatal Outcomes: Systematic Review and Meta-Analysis. The Journal of Clinical Psychiatry, 79(5). https://doi.org/10.4088/jcp.17r12011</a:t>
            </a:r>
            <a:endParaRPr lang="en-US" sz="199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Kassebaum, N. J., Jasrasaria, R., Naghavi, M., Wulf, S. K., Johns, N., Lozano, R., Regan, M., Weatherall, D., Chou, D. P., Eisele, T. P., Flaxman, S. R., Pullan, R. L., Brooker, S. J., &amp; Murray, C. J. L. (2014). A systematic analysis of global anemia burden from 1990 to 2010. Blood, 123(5), 615–624. https://doi.org/10.1182/blood-2013-06-508325</a:t>
            </a:r>
            <a:endParaRPr lang="en-US" sz="199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Peña-Rosas, J. P., De-Regil, L. M., Garcia-Casal, M. N., &amp; Dowswell, T. (2015). Daily oral iron supplementation during pregnancy. Cochrane Database of Systematic Reviews, 2015(7). https://doi.org/10.1002/14651858.cd004736.pub5</a:t>
            </a:r>
            <a:endParaRPr lang="en-US" sz="199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Rahman, M. M., Abe, S. K., Rahman, M. S., Kanda, M., Narita, S., Bilano, V., Ota, E., Gilmour, S., &amp; Shibuya, K. (2016). Maternal anemia and risk of adverse birth and health outcomes in low- and middle-income countries: systematic review and meta-analysis. The American Journal of Clinical Nutrition, 103(2), 495–504. https://doi.org/10.3945/ajcn.115.107896</a:t>
            </a:r>
            <a:endParaRPr lang="en-US" sz="199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Rosenberg, M. (1965). Society and the adolescent self-image. Princeton University Press.</a:t>
            </a:r>
            <a:endParaRPr lang="en-US" sz="199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Spitzer, R. L., Kroenke, K., Williams, J. B. W., &amp; Löwe, B. (2006). A Brief Measure for Assessing Generalized Anxiety Disorder: The GAD-7. Archives of Internal Medicine, 166(10), 1092. https://doi.org/10.1001/archinte.166.10.1092</a:t>
            </a:r>
            <a:endParaRPr lang="en-US" sz="1990" dirty="0"/>
          </a:p>
        </p:txBody>
      </p:sp>
      <p:sp>
        <p:nvSpPr>
          <p:cNvPr id="28" name="Shape 24"/>
          <p:cNvSpPr/>
          <p:nvPr/>
        </p:nvSpPr>
        <p:spPr>
          <a:xfrm>
            <a:off x="20303877" y="35653712"/>
            <a:ext cx="9468148" cy="2473077"/>
          </a:xfrm>
          <a:prstGeom prst="roundRect">
            <a:avLst>
              <a:gd name="adj" fmla="val 4437"/>
            </a:avLst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0674310" y="36024145"/>
            <a:ext cx="8773001" cy="82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357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5357" dirty="0"/>
          </a:p>
        </p:txBody>
      </p:sp>
      <p:sp>
        <p:nvSpPr>
          <p:cNvPr id="30" name="Text 26"/>
          <p:cNvSpPr/>
          <p:nvPr/>
        </p:nvSpPr>
        <p:spPr>
          <a:xfrm>
            <a:off x="20674310" y="37000904"/>
            <a:ext cx="8773001" cy="75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9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We thank all participants, the hospital staff and the department. Funding: …</a:t>
            </a:r>
            <a:endParaRPr lang="en-US" sz="1990" dirty="0"/>
          </a:p>
        </p:txBody>
      </p:sp>
      <p:sp>
        <p:nvSpPr>
          <p:cNvPr id="31" name="Text 27"/>
          <p:cNvSpPr/>
          <p:nvPr/>
        </p:nvSpPr>
        <p:spPr>
          <a:xfrm>
            <a:off x="26785044" y="42347704"/>
            <a:ext cx="307842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28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 Appuscholar</a:t>
            </a:r>
            <a:endParaRPr lang="en-US" sz="192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2026-11-01T19:52:58Z</dcterms:created>
  <dcterms:modified xsi:type="dcterms:W3CDTF">2026-11-01T19:52:58Z</dcterms:modified>
</cp:coreProperties>
</file>