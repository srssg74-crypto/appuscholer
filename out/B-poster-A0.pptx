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2804000" cy="30276000"/>
  <p:notesSz cx="30276000" cy="4280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803862" cy="5146774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3932" y="1100882"/>
            <a:ext cx="38349763" cy="1303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after the MR vaccine and the infant antibody response</a:t>
            </a:r>
            <a:endParaRPr lang="en-US" sz="8844" dirty="0"/>
          </a:p>
        </p:txBody>
      </p:sp>
      <p:sp>
        <p:nvSpPr>
          <p:cNvPr id="4" name="Text 2"/>
          <p:cNvSpPr/>
          <p:nvPr/>
        </p:nvSpPr>
        <p:spPr>
          <a:xfrm>
            <a:off x="503932" y="2466677"/>
            <a:ext cx="38349763" cy="686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83" dirty="0">
                <a:solidFill>
                  <a:srgbClr val="D7EE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Verma¹, MA Psychology (final year) (Student) · Dr. Meena Sharma¹, PhD, Professor of Psychology (Supervisor) · Dr. S. Khan², MD (Paediatrics) (Co-supervisor)</a:t>
            </a:r>
            <a:endParaRPr lang="en-US" sz="3883" dirty="0"/>
          </a:p>
        </p:txBody>
      </p:sp>
      <p:sp>
        <p:nvSpPr>
          <p:cNvPr id="5" name="Text 3"/>
          <p:cNvSpPr/>
          <p:nvPr/>
        </p:nvSpPr>
        <p:spPr>
          <a:xfrm>
            <a:off x="503932" y="3161705"/>
            <a:ext cx="38349763" cy="50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Department of Psychology, Demo College, Jaipur   ² Department of Paediatrics, Demo Medical College, Jaipur</a:t>
            </a:r>
            <a:endParaRPr lang="en-US" sz="2778" dirty="0"/>
          </a:p>
        </p:txBody>
      </p:sp>
      <p:sp>
        <p:nvSpPr>
          <p:cNvPr id="6" name="Text 4"/>
          <p:cNvSpPr/>
          <p:nvPr/>
        </p:nvSpPr>
        <p:spPr>
          <a:xfrm>
            <a:off x="503932" y="3674269"/>
            <a:ext cx="38349763" cy="417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Paediatrics and Behaviour Meet, Jaipur, 2026</a:t>
            </a:r>
            <a:endParaRPr lang="en-US" sz="2580" dirty="0"/>
          </a:p>
        </p:txBody>
      </p:sp>
      <p:sp>
        <p:nvSpPr>
          <p:cNvPr id="7" name="Shape 5"/>
          <p:cNvSpPr/>
          <p:nvPr/>
        </p:nvSpPr>
        <p:spPr>
          <a:xfrm>
            <a:off x="39095958" y="971401"/>
            <a:ext cx="3203972" cy="3203972"/>
          </a:xfrm>
          <a:prstGeom prst="roundRect">
            <a:avLst>
              <a:gd name="adj" fmla="val 2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150822" y="1026265"/>
            <a:ext cx="3094244" cy="30942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3932" y="5650706"/>
            <a:ext cx="13643967" cy="10996166"/>
          </a:xfrm>
          <a:prstGeom prst="roundRect">
            <a:avLst>
              <a:gd name="adj" fmla="val 998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078" y="6006852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5159" dirty="0"/>
          </a:p>
        </p:txBody>
      </p:sp>
      <p:sp>
        <p:nvSpPr>
          <p:cNvPr id="11" name="Text 8"/>
          <p:cNvSpPr/>
          <p:nvPr/>
        </p:nvSpPr>
        <p:spPr>
          <a:xfrm>
            <a:off x="860078" y="6947297"/>
            <a:ext cx="12977396" cy="9294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Measles still kills children where vaccine coverage is low, and two doses of a measles-containing vaccine prevent almost all cases (Moss &amp; Griffin, 2012).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randomised trial, infants given prophylactic paracetamol at vaccination had lower antibody responses to several vaccines (Prymula et al., 2009).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Trials in Europe found lower antibody responses when infants were given paracetamol at vaccination, but a search of OpenAlex and PubMed for 2009 to 2025 found no Indian study of measles antibody…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present study asked: Does paracetamol given after the measles-rubella vaccine lower the antibody response in nine-month-old infants in Jaipur?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Infants given paracetamol after MR1 will seroconvert less often than infants not given paracetamol.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Seroconversion will not differ between boys and girls.</a:t>
            </a:r>
            <a:endParaRPr lang="en-US" sz="3169" dirty="0"/>
          </a:p>
        </p:txBody>
      </p:sp>
      <p:sp>
        <p:nvSpPr>
          <p:cNvPr id="12" name="Shape 9"/>
          <p:cNvSpPr/>
          <p:nvPr/>
        </p:nvSpPr>
        <p:spPr>
          <a:xfrm>
            <a:off x="503932" y="17078771"/>
            <a:ext cx="13643967" cy="10746581"/>
          </a:xfrm>
          <a:prstGeom prst="roundRect">
            <a:avLst>
              <a:gd name="adj" fmla="val 1021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0078" y="17434917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Methods</a:t>
            </a:r>
            <a:endParaRPr lang="en-US" sz="5159" dirty="0"/>
          </a:p>
        </p:txBody>
      </p:sp>
      <p:sp>
        <p:nvSpPr>
          <p:cNvPr id="14" name="Text 11"/>
          <p:cNvSpPr/>
          <p:nvPr/>
        </p:nvSpPr>
        <p:spPr>
          <a:xfrm>
            <a:off x="860078" y="18375362"/>
            <a:ext cx="12977396" cy="9044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Design. This was a cohort study.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Participants. Infants born in the simulated Janani cohort, Jaipur, who received the first measles-rubella dose (MR1) at 9 months.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Measures. Seroconversion. Recorded as yes or no.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after MR1. Recorded as yes or no.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weight. Measured with the instrument or laboratory method described in section 2.4.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 and laboratory methods. Birth weight. Babies were weighed undressed within 24 hours of birth on a digital infant scale (model Seca 334) to the nearest 10 g.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and ethics. The study was approved by the Institutional Ethics Committee, Department of Psychology, Demo College, Jaipur (reference IEC/PSY/2026/B, 20 October 2026). [how consent was taken, where and when data…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 The main hypothesis was tested with a logistic regression.</a:t>
            </a:r>
            <a:endParaRPr lang="en-US" sz="3169" dirty="0"/>
          </a:p>
        </p:txBody>
      </p:sp>
      <p:sp>
        <p:nvSpPr>
          <p:cNvPr id="15" name="Shape 12"/>
          <p:cNvSpPr/>
          <p:nvPr/>
        </p:nvSpPr>
        <p:spPr>
          <a:xfrm>
            <a:off x="14579798" y="5650706"/>
            <a:ext cx="13644116" cy="21318587"/>
          </a:xfrm>
          <a:prstGeom prst="roundRect">
            <a:avLst>
              <a:gd name="adj" fmla="val 804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935944" y="6006852"/>
            <a:ext cx="12977545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5159" dirty="0"/>
          </a:p>
        </p:txBody>
      </p:sp>
      <p:sp>
        <p:nvSpPr>
          <p:cNvPr id="17" name="Text 14"/>
          <p:cNvSpPr/>
          <p:nvPr/>
        </p:nvSpPr>
        <p:spPr>
          <a:xfrm>
            <a:off x="14935944" y="6947297"/>
            <a:ext cx="12977545" cy="1180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chi-square test of independence showed a significant association between paracetamol after MR1 and seroconversion, χ²(1, N = 1133) = 11.42, p &lt; .001, Cramér's V = 0.10.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chi-square test of independence showed no significant association between infant sex and seroconversion, χ²(1, N = 1133) = 0.05, p = .827, Cramér's V = 0.01.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logistic regression with birth weight (g), infant sex: Girl (vs Boy), paracetamol after MR1: Yes (vs No) as predictors of seroconversion (Yes versus No) was significant, χ²(3, N = 1133) = 10.72, p = .013, Nagelkerke R² = .021. The model classified 91.4% of cases correctly (AUC = .59). Odds ratios: birth weight (g) (OR = 1.00, 95% CI [1.00, 1.00], p = .474); infant sex: Girl (vs Boy) (OR = 0.97, 95% CI [0.64, 1.48], p = .902); paracetamol after MR1: Yes (vs No) (OR = 0.46, 95% CI [0.29, 0.73], p &lt; .001).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a moderate positive correlation between the mother's haemoglobin at 34 weeks and birth weight (g), which was statistically significant, r(1196) = .31, p &lt; .001, 95% CI [.26, .36].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independent-samples Welch t-test showed that birth weight (g) differed significantly between boys (M = 2955.67, SD = 404.24) and girls (M = 2840.56, SD = 415.40), t(1183.18) = 4.85, p &lt; .001, g = 0.28, 95% CI of the difference [68.59, 161.64].</a:t>
            </a:r>
            <a:endParaRPr lang="en-US" sz="3169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271" y="18805773"/>
            <a:ext cx="11897171" cy="78073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8655814" y="5650706"/>
            <a:ext cx="13643967" cy="2855863"/>
          </a:xfrm>
          <a:prstGeom prst="roundRect">
            <a:avLst>
              <a:gd name="adj" fmla="val 3842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011959" y="6006852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5159" dirty="0"/>
          </a:p>
        </p:txBody>
      </p:sp>
      <p:sp>
        <p:nvSpPr>
          <p:cNvPr id="21" name="Text 17"/>
          <p:cNvSpPr/>
          <p:nvPr/>
        </p:nvSpPr>
        <p:spPr>
          <a:xfrm>
            <a:off x="29011959" y="6947297"/>
            <a:ext cx="12977396" cy="1153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paracetamol after MR1 for fever only; routine doses went with lower seroconversion.</a:t>
            </a:r>
            <a:endParaRPr lang="en-US" sz="3169" dirty="0"/>
          </a:p>
        </p:txBody>
      </p:sp>
      <p:sp>
        <p:nvSpPr>
          <p:cNvPr id="22" name="Shape 18"/>
          <p:cNvSpPr/>
          <p:nvPr/>
        </p:nvSpPr>
        <p:spPr>
          <a:xfrm>
            <a:off x="28655814" y="8938468"/>
            <a:ext cx="13643967" cy="5793284"/>
          </a:xfrm>
          <a:prstGeom prst="roundRect">
            <a:avLst>
              <a:gd name="adj" fmla="val 1894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9011959" y="9294614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5159" dirty="0"/>
          </a:p>
        </p:txBody>
      </p:sp>
      <p:sp>
        <p:nvSpPr>
          <p:cNvPr id="24" name="Text 20"/>
          <p:cNvSpPr/>
          <p:nvPr/>
        </p:nvSpPr>
        <p:spPr>
          <a:xfrm>
            <a:off x="29011959" y="10235059"/>
            <a:ext cx="12977396" cy="4091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Infants whose parents gave paracetamol after MR1 seroconverted less often, which supports H1 and follows the same direction as the trial of prophylactic paracetamol (Prymula et al., 2009).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Paracetamol was given more often to infants with fever, so fever itself or a stronger reaction may explain part of the link. The data are simulated, and paracetamol use was reported by parents.</a:t>
            </a:r>
            <a:endParaRPr lang="en-US" sz="3169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169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weight rose with the mother's haemoglobin at 34 weeks (r = .31).</a:t>
            </a:r>
            <a:endParaRPr lang="en-US" sz="3169" dirty="0"/>
          </a:p>
        </p:txBody>
      </p:sp>
      <p:sp>
        <p:nvSpPr>
          <p:cNvPr id="25" name="Shape 21"/>
          <p:cNvSpPr/>
          <p:nvPr/>
        </p:nvSpPr>
        <p:spPr>
          <a:xfrm>
            <a:off x="28655814" y="15163651"/>
            <a:ext cx="13643967" cy="6152406"/>
          </a:xfrm>
          <a:prstGeom prst="roundRect">
            <a:avLst>
              <a:gd name="adj" fmla="val 1783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9011959" y="15519797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5159" dirty="0"/>
          </a:p>
        </p:txBody>
      </p:sp>
      <p:sp>
        <p:nvSpPr>
          <p:cNvPr id="27" name="Text 23"/>
          <p:cNvSpPr/>
          <p:nvPr/>
        </p:nvSpPr>
        <p:spPr>
          <a:xfrm>
            <a:off x="29011959" y="16460242"/>
            <a:ext cx="12977396" cy="453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916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Homme, J. H., &amp; Fischer, P. R. (2010). Prophylactic paracetamol at the time of infant vaccination reduces the risk of fever but also reduces antibody response. BMJ Evidence-Based Medicine, 15(2), 50–51. https://doi.org/10.1136/ebm1049</a:t>
            </a:r>
            <a:endParaRPr lang="en-US" sz="1916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16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Moss, W. J., &amp; Griffin, D. E. (2012). Measles. The Lancet, 379(9811), 153–164. https://doi.org/10.1016/s0140-6736(10)62352-5</a:t>
            </a:r>
            <a:endParaRPr lang="en-US" sz="1916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16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Prymula, R., Siegrist, C. A., Chlibek, R., Zemlickova, H., Vackova, M., Smetana, J., Lommel, P., Kaliskova, E., Borys, D., &amp; Schuerman, L. (2009). Effect of prophylactic paracetamol administration at time of vaccination on febrile reactions and antibody responses in children: two open-label, randomised controlled trials. The Lancet, 374(9698), 1339–1350. https://doi.org/10.1016/s0140-6736(09)61208-3</a:t>
            </a:r>
            <a:endParaRPr lang="en-US" sz="1916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16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Sil, A., Ravi, M. D., Patnaik, B. N., Dhingra, M. S., Dupuy, M., Gandhi, D. J., Dhaded, S. M., Dubey, A. P., Kundu, R., Lalwani, S. K., Chhatwal, J., Mathew, L. G., Gupta, M., Sharma, S. D., Bavdekar, S. B., Rout, S. P., Midde, V. J., D’Cor, N. A., Mangarule, S., . . . E, J. R. (2017). Effect of prophylactic or therapeutic administration of paracetamol on immune response to DTwP-HepB-Hib combination vaccine in Indian infants. Vaccine, 35(22), 2999–3006. https://doi.org/10.1016/j.vaccine.2017.03.009</a:t>
            </a:r>
            <a:endParaRPr lang="en-US" sz="1916" dirty="0"/>
          </a:p>
        </p:txBody>
      </p:sp>
      <p:sp>
        <p:nvSpPr>
          <p:cNvPr id="28" name="Shape 24"/>
          <p:cNvSpPr/>
          <p:nvPr/>
        </p:nvSpPr>
        <p:spPr>
          <a:xfrm>
            <a:off x="28655814" y="21747956"/>
            <a:ext cx="13643967" cy="2059037"/>
          </a:xfrm>
          <a:prstGeom prst="roundRect">
            <a:avLst>
              <a:gd name="adj" fmla="val 5329"/>
            </a:avLst>
          </a:prstGeom>
          <a:solidFill>
            <a:srgbClr val="F2F8F3"/>
          </a:solidFill>
          <a:ln w="25400">
            <a:solidFill>
              <a:srgbClr val="B9D7C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9011959" y="22104102"/>
            <a:ext cx="12977396" cy="799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159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5159" dirty="0"/>
          </a:p>
        </p:txBody>
      </p:sp>
      <p:sp>
        <p:nvSpPr>
          <p:cNvPr id="30" name="Text 26"/>
          <p:cNvSpPr/>
          <p:nvPr/>
        </p:nvSpPr>
        <p:spPr>
          <a:xfrm>
            <a:off x="29011959" y="23044547"/>
            <a:ext cx="12977396" cy="412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916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We thank all participants, the hospital staff and the department. Funding: …</a:t>
            </a:r>
            <a:endParaRPr lang="en-US" sz="1916" dirty="0"/>
          </a:p>
        </p:txBody>
      </p:sp>
      <p:sp>
        <p:nvSpPr>
          <p:cNvPr id="31" name="Text 27"/>
          <p:cNvSpPr/>
          <p:nvPr/>
        </p:nvSpPr>
        <p:spPr>
          <a:xfrm>
            <a:off x="39425166" y="29829323"/>
            <a:ext cx="2966204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43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Appuscholar</a:t>
            </a:r>
            <a:endParaRPr lang="en-US" sz="184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2026-11-01T19:53:51Z</dcterms:created>
  <dcterms:modified xsi:type="dcterms:W3CDTF">2026-11-01T19:53:51Z</dcterms:modified>
</cp:coreProperties>
</file>